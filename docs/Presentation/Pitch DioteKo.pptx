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otham Bold" charset="1" panose="00000000000000000000"/>
      <p:regular r:id="rId12"/>
    </p:embeddedFont>
    <p:embeddedFont>
      <p:font typeface="DM Sans Bold" charset="1" panose="00000000000000000000"/>
      <p:regular r:id="rId13"/>
    </p:embeddedFont>
    <p:embeddedFont>
      <p:font typeface="DM Sans" charset="1" panose="00000000000000000000"/>
      <p:regular r:id="rId14"/>
    </p:embeddedFont>
    <p:embeddedFont>
      <p:font typeface="Gotham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936182" cy="10287000"/>
          </a:xfrm>
          <a:custGeom>
            <a:avLst/>
            <a:gdLst/>
            <a:ahLst/>
            <a:cxnLst/>
            <a:rect r="r" b="b" t="t" l="l"/>
            <a:pathLst>
              <a:path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807" y="939231"/>
            <a:ext cx="1334149" cy="108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3"/>
              </a:lnSpc>
            </a:pPr>
            <a:r>
              <a:rPr lang="en-US" sz="8123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1769" y="2221780"/>
            <a:ext cx="6437969" cy="117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873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PROBLÈME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5264" y="3566616"/>
            <a:ext cx="7446246" cy="116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893" b="true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Un simple papier peut devenir un </a:t>
            </a:r>
            <a:r>
              <a:rPr lang="en-US" sz="3893" b="true">
                <a:solidFill>
                  <a:srgbClr val="89B841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parcours du combattant.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5783021"/>
            <a:ext cx="229694" cy="3869923"/>
          </a:xfrm>
          <a:custGeom>
            <a:avLst/>
            <a:gdLst/>
            <a:ahLst/>
            <a:cxnLst/>
            <a:rect r="r" b="b" t="t" l="l"/>
            <a:pathLst>
              <a:path h="3869923" w="229694">
                <a:moveTo>
                  <a:pt x="0" y="0"/>
                </a:moveTo>
                <a:lnTo>
                  <a:pt x="229694" y="0"/>
                </a:lnTo>
                <a:lnTo>
                  <a:pt x="22969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6207" y="5768356"/>
            <a:ext cx="4498820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b="true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Des déplacements multiples et de longues attentes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6873" y="6903229"/>
            <a:ext cx="4432246" cy="43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true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Des démarches </a:t>
            </a:r>
            <a:r>
              <a:rPr lang="en-US" sz="2575" b="true">
                <a:solidFill>
                  <a:srgbClr val="89B841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répétitives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159" y="7650895"/>
            <a:ext cx="5303623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b="true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Une </a:t>
            </a:r>
            <a:r>
              <a:rPr lang="en-US" sz="2487" b="true">
                <a:solidFill>
                  <a:srgbClr val="89B841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authentification difficile </a:t>
            </a:r>
            <a:r>
              <a:rPr lang="en-US" sz="2487" b="true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pour les employeurs et organismes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144" y="8780971"/>
            <a:ext cx="5705154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b="true">
                <a:solidFill>
                  <a:srgbClr val="FFFFFF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Une dépendance aux intermédiaires, surtout pour la </a:t>
            </a:r>
            <a:r>
              <a:rPr lang="en-US" sz="2487" b="true">
                <a:solidFill>
                  <a:srgbClr val="89B841">
                    <a:alpha val="8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diaspora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393952" y="5356674"/>
            <a:ext cx="4145426" cy="1934962"/>
          </a:xfrm>
          <a:custGeom>
            <a:avLst/>
            <a:gdLst/>
            <a:ahLst/>
            <a:cxnLst/>
            <a:rect r="r" b="b" t="t" l="l"/>
            <a:pathLst>
              <a:path h="1934962" w="4145426">
                <a:moveTo>
                  <a:pt x="0" y="0"/>
                </a:moveTo>
                <a:lnTo>
                  <a:pt x="4145426" y="0"/>
                </a:lnTo>
                <a:lnTo>
                  <a:pt x="414542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93952" y="6854356"/>
            <a:ext cx="3062584" cy="3432644"/>
          </a:xfrm>
          <a:custGeom>
            <a:avLst/>
            <a:gdLst/>
            <a:ahLst/>
            <a:cxnLst/>
            <a:rect r="r" b="b" t="t" l="l"/>
            <a:pathLst>
              <a:path h="3432644" w="3062584">
                <a:moveTo>
                  <a:pt x="0" y="0"/>
                </a:moveTo>
                <a:lnTo>
                  <a:pt x="3062584" y="0"/>
                </a:lnTo>
                <a:lnTo>
                  <a:pt x="306258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51818" y="6635716"/>
            <a:ext cx="2187560" cy="3651284"/>
          </a:xfrm>
          <a:custGeom>
            <a:avLst/>
            <a:gdLst/>
            <a:ahLst/>
            <a:cxnLst/>
            <a:rect r="r" b="b" t="t" l="l"/>
            <a:pathLst>
              <a:path h="3651284" w="2187560">
                <a:moveTo>
                  <a:pt x="0" y="0"/>
                </a:moveTo>
                <a:lnTo>
                  <a:pt x="2187560" y="0"/>
                </a:lnTo>
                <a:lnTo>
                  <a:pt x="218756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20622" y="6854356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78488" y="6854356"/>
            <a:ext cx="2187560" cy="3224936"/>
          </a:xfrm>
          <a:custGeom>
            <a:avLst/>
            <a:gdLst/>
            <a:ahLst/>
            <a:cxnLst/>
            <a:rect r="r" b="b" t="t" l="l"/>
            <a:pathLst>
              <a:path h="3224936" w="2187560">
                <a:moveTo>
                  <a:pt x="0" y="0"/>
                </a:moveTo>
                <a:lnTo>
                  <a:pt x="2187560" y="0"/>
                </a:lnTo>
                <a:lnTo>
                  <a:pt x="218756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36354" y="5356674"/>
            <a:ext cx="3051646" cy="4722618"/>
          </a:xfrm>
          <a:custGeom>
            <a:avLst/>
            <a:gdLst/>
            <a:ahLst/>
            <a:cxnLst/>
            <a:rect r="r" b="b" t="t" l="l"/>
            <a:pathLst>
              <a:path h="4722618" w="3051646">
                <a:moveTo>
                  <a:pt x="0" y="0"/>
                </a:moveTo>
                <a:lnTo>
                  <a:pt x="3051646" y="0"/>
                </a:lnTo>
                <a:lnTo>
                  <a:pt x="305164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9215665"/>
          </a:xfrm>
          <a:custGeom>
            <a:avLst/>
            <a:gdLst/>
            <a:ahLst/>
            <a:cxnLst/>
            <a:rect r="r" b="b" t="t" l="l"/>
            <a:pathLst>
              <a:path h="9215665" w="9144000">
                <a:moveTo>
                  <a:pt x="0" y="0"/>
                </a:moveTo>
                <a:lnTo>
                  <a:pt x="9144000" y="0"/>
                </a:lnTo>
                <a:lnTo>
                  <a:pt x="9144000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997026"/>
            <a:ext cx="18288000" cy="1289974"/>
          </a:xfrm>
          <a:custGeom>
            <a:avLst/>
            <a:gdLst/>
            <a:ahLst/>
            <a:cxnLst/>
            <a:rect r="r" b="b" t="t" l="l"/>
            <a:pathLst>
              <a:path h="1289974" w="18288000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47196" y="852695"/>
            <a:ext cx="5457962" cy="7728915"/>
          </a:xfrm>
          <a:custGeom>
            <a:avLst/>
            <a:gdLst/>
            <a:ahLst/>
            <a:cxnLst/>
            <a:rect r="r" b="b" t="t" l="l"/>
            <a:pathLst>
              <a:path h="7728915" w="5457962">
                <a:moveTo>
                  <a:pt x="0" y="0"/>
                </a:moveTo>
                <a:lnTo>
                  <a:pt x="5457962" y="0"/>
                </a:lnTo>
                <a:lnTo>
                  <a:pt x="5457962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705390"/>
            <a:ext cx="3489158" cy="7083928"/>
          </a:xfrm>
          <a:custGeom>
            <a:avLst/>
            <a:gdLst/>
            <a:ahLst/>
            <a:cxnLst/>
            <a:rect r="r" b="b" t="t" l="l"/>
            <a:pathLst>
              <a:path h="7083928" w="3489158">
                <a:moveTo>
                  <a:pt x="0" y="0"/>
                </a:moveTo>
                <a:lnTo>
                  <a:pt x="3489158" y="0"/>
                </a:lnTo>
                <a:lnTo>
                  <a:pt x="348915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6556" y="1358208"/>
            <a:ext cx="2674898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b="true" sz="2443" spc="-23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NOTRE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4472" y="1819124"/>
            <a:ext cx="6525469" cy="173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62"/>
              </a:lnSpc>
            </a:pPr>
            <a:r>
              <a:rPr lang="en-US" sz="12243" spc="-119" b="true">
                <a:solidFill>
                  <a:srgbClr val="F6F6F6"/>
                </a:solidFill>
                <a:latin typeface="Gotham Bold"/>
                <a:ea typeface="Gotham Bold"/>
                <a:cs typeface="Gotham Bold"/>
                <a:sym typeface="Gotham Bold"/>
              </a:rPr>
              <a:t>Diote</a:t>
            </a:r>
            <a:r>
              <a:rPr lang="en-US" sz="12243" spc="-119" b="true">
                <a:solidFill>
                  <a:srgbClr val="86BB43"/>
                </a:solidFill>
                <a:latin typeface="Gotham Bold"/>
                <a:ea typeface="Gotham Bold"/>
                <a:cs typeface="Gotham Bold"/>
                <a:sym typeface="Gotham Bold"/>
              </a:rPr>
              <a:t>Ko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873" y="3591350"/>
            <a:ext cx="6764294" cy="129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4475" spc="-43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Les documents officiels, simplement</a:t>
            </a:r>
            <a:r>
              <a:rPr lang="en-US" sz="4475" spc="-43" b="true">
                <a:solidFill>
                  <a:srgbClr val="86BB43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5356674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9822" y="5813472"/>
            <a:ext cx="4348301" cy="41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Demande en ligne </a:t>
            </a:r>
            <a:r>
              <a:rPr lang="en-US" sz="2487" spc="-24" b="true">
                <a:solidFill>
                  <a:srgbClr val="86BB43"/>
                </a:solidFill>
                <a:latin typeface="DM Sans Bold"/>
                <a:ea typeface="DM Sans Bold"/>
                <a:cs typeface="DM Sans Bold"/>
                <a:sym typeface="DM Sans Bold"/>
              </a:rPr>
              <a:t>simplifiée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6428009"/>
            <a:ext cx="6978316" cy="218640"/>
          </a:xfrm>
          <a:custGeom>
            <a:avLst/>
            <a:gdLst/>
            <a:ahLst/>
            <a:cxnLst/>
            <a:rect r="r" b="b" t="t" l="l"/>
            <a:pathLst>
              <a:path h="218640" w="6978316">
                <a:moveTo>
                  <a:pt x="0" y="0"/>
                </a:moveTo>
                <a:lnTo>
                  <a:pt x="6978316" y="0"/>
                </a:lnTo>
                <a:lnTo>
                  <a:pt x="697831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4250" y="6702062"/>
            <a:ext cx="6905450" cy="841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Réception de </a:t>
            </a:r>
            <a:r>
              <a:rPr lang="en-US" sz="2487" spc="-24" b="true">
                <a:solidFill>
                  <a:srgbClr val="86BB43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documents numériques signés</a:t>
            </a:r>
            <a:r>
              <a:rPr lang="en-US" sz="2487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 (PDF + QR code)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7707051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3441" y="8057538"/>
            <a:ext cx="5986413" cy="41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Vérification </a:t>
            </a:r>
            <a:r>
              <a:rPr lang="en-US" sz="2487" spc="-24" b="true">
                <a:solidFill>
                  <a:srgbClr val="86BB43"/>
                </a:solidFill>
                <a:latin typeface="DM Sans Bold"/>
                <a:ea typeface="DM Sans Bold"/>
                <a:cs typeface="DM Sans Bold"/>
                <a:sym typeface="DM Sans Bold"/>
              </a:rPr>
              <a:t>instantanée</a:t>
            </a:r>
            <a:r>
              <a:rPr lang="en-US" sz="2487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 d'authenticité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5160" y="9495127"/>
            <a:ext cx="11814491" cy="42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032" spc="-29" b="true">
                <a:solidFill>
                  <a:srgbClr val="081427"/>
                </a:solidFill>
                <a:latin typeface="DM Sans Bold"/>
                <a:ea typeface="DM Sans Bold"/>
                <a:cs typeface="DM Sans Bold"/>
                <a:sym typeface="DM Sans Bold"/>
              </a:rPr>
              <a:t>Moins</a:t>
            </a:r>
            <a:r>
              <a:rPr lang="en-US" sz="3032" spc="-29">
                <a:solidFill>
                  <a:srgbClr val="081427"/>
                </a:solidFill>
                <a:latin typeface="DM Sans"/>
                <a:ea typeface="DM Sans"/>
                <a:cs typeface="DM Sans"/>
                <a:sym typeface="DM Sans"/>
              </a:rPr>
              <a:t> de déplacements. </a:t>
            </a:r>
            <a:r>
              <a:rPr lang="en-US" sz="3032" spc="-29" b="true">
                <a:solidFill>
                  <a:srgbClr val="081427"/>
                </a:solidFill>
                <a:latin typeface="DM Sans Bold"/>
                <a:ea typeface="DM Sans Bold"/>
                <a:cs typeface="DM Sans Bold"/>
                <a:sym typeface="DM Sans Bold"/>
              </a:rPr>
              <a:t>Moins</a:t>
            </a:r>
            <a:r>
              <a:rPr lang="en-US" sz="3032" spc="-29">
                <a:solidFill>
                  <a:srgbClr val="081427"/>
                </a:solidFill>
                <a:latin typeface="DM Sans"/>
                <a:ea typeface="DM Sans"/>
                <a:cs typeface="DM Sans"/>
                <a:sym typeface="DM Sans"/>
              </a:rPr>
              <a:t> de paperasse. </a:t>
            </a:r>
            <a:r>
              <a:rPr lang="en-US" sz="3032" spc="-29" b="true">
                <a:solidFill>
                  <a:srgbClr val="081427"/>
                </a:solidFill>
                <a:latin typeface="DM Sans Bold"/>
                <a:ea typeface="DM Sans Bold"/>
                <a:cs typeface="DM Sans Bold"/>
                <a:sym typeface="DM Sans Bold"/>
              </a:rPr>
              <a:t>Plus</a:t>
            </a:r>
            <a:r>
              <a:rPr lang="en-US" sz="3032" spc="-29">
                <a:solidFill>
                  <a:srgbClr val="081427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3032" spc="-29" b="true">
                <a:solidFill>
                  <a:srgbClr val="081427"/>
                </a:solidFill>
                <a:latin typeface="DM Sans Bold"/>
                <a:ea typeface="DM Sans Bold"/>
                <a:cs typeface="DM Sans Bold"/>
                <a:sym typeface="DM Sans Bold"/>
              </a:rPr>
              <a:t>confiance.</a:t>
            </a:r>
          </a:p>
        </p:txBody>
      </p:sp>
      <p:sp>
        <p:nvSpPr>
          <p:cNvPr name="TextBox 17" id="17"/>
          <p:cNvSpPr txBox="true"/>
          <p:nvPr/>
        </p:nvSpPr>
        <p:spPr>
          <a:xfrm rot="52734">
            <a:off x="12902063" y="1834619"/>
            <a:ext cx="2764120" cy="24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1740" spc="-16">
                <a:solidFill>
                  <a:srgbClr val="151B39"/>
                </a:solidFill>
                <a:latin typeface="DM Sans Bold"/>
                <a:ea typeface="DM Sans Bold"/>
                <a:cs typeface="DM Sans Bold"/>
                <a:sym typeface="DM Sans Bold"/>
              </a:rPr>
              <a:t>RÉPUBLIQUE DU SÉNÉGAL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278488" y="2142670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52734">
            <a:off x="12718741" y="2788988"/>
            <a:ext cx="3130909" cy="35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b="true" sz="2443" spc="-23">
                <a:solidFill>
                  <a:srgbClr val="151B39"/>
                </a:solidFill>
                <a:latin typeface="DM Sans Bold"/>
                <a:ea typeface="DM Sans Bold"/>
                <a:cs typeface="DM Sans Bold"/>
                <a:sym typeface="DM Sans Bold"/>
              </a:rPr>
              <a:t>ACTE DE NAISSANCE</a:t>
            </a:r>
          </a:p>
        </p:txBody>
      </p:sp>
      <p:sp>
        <p:nvSpPr>
          <p:cNvPr name="TextBox 20" id="20"/>
          <p:cNvSpPr txBox="true"/>
          <p:nvPr/>
        </p:nvSpPr>
        <p:spPr>
          <a:xfrm rot="52734">
            <a:off x="13194733" y="3457202"/>
            <a:ext cx="2096562" cy="18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9"/>
              </a:lnSpc>
            </a:pPr>
            <a:r>
              <a:rPr lang="en-US" sz="1265" spc="-12">
                <a:solidFill>
                  <a:srgbClr val="151B39"/>
                </a:solidFill>
                <a:latin typeface="DM Sans"/>
                <a:ea typeface="DM Sans"/>
                <a:cs typeface="DM Sans"/>
                <a:sym typeface="DM Sans"/>
              </a:rPr>
              <a:t>Document numérique signé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840976" y="3848060"/>
            <a:ext cx="2625072" cy="2798589"/>
          </a:xfrm>
          <a:custGeom>
            <a:avLst/>
            <a:gdLst/>
            <a:ahLst/>
            <a:cxnLst/>
            <a:rect r="r" b="b" t="t" l="l"/>
            <a:pathLst>
              <a:path h="2798589" w="2625072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03464" y="7062064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98842" y="6209369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137109">
            <a:off x="10059687" y="2999840"/>
            <a:ext cx="1300034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110" b="true">
                <a:solidFill>
                  <a:srgbClr val="151B39"/>
                </a:solidFill>
                <a:latin typeface="DM Sans Bold"/>
                <a:ea typeface="DM Sans Bold"/>
                <a:cs typeface="DM Sans Bold"/>
                <a:sym typeface="DM Sans Bold"/>
              </a:rPr>
              <a:t>Diote</a:t>
            </a:r>
            <a:r>
              <a:rPr lang="en-US" sz="2759" spc="-110" b="true">
                <a:solidFill>
                  <a:srgbClr val="86BB43"/>
                </a:solidFill>
                <a:latin typeface="DM Sans Bold"/>
                <a:ea typeface="DM Sans Bold"/>
                <a:cs typeface="DM Sans Bold"/>
                <a:sym typeface="DM Sans Bold"/>
              </a:rPr>
              <a:t>Ko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008086" y="4066699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89330" y="4919394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89330" y="5564382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789330" y="6209369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008086" y="7280704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137109">
            <a:off x="10058491" y="3662517"/>
            <a:ext cx="1419648" cy="1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-53" b="true">
                <a:solidFill>
                  <a:srgbClr val="151B39"/>
                </a:solidFill>
                <a:latin typeface="DM Sans Bold"/>
                <a:ea typeface="DM Sans Bold"/>
                <a:cs typeface="DM Sans Bold"/>
                <a:sym typeface="DM Sans Bold"/>
              </a:rPr>
              <a:t>Demande en ligne</a:t>
            </a:r>
          </a:p>
        </p:txBody>
      </p:sp>
      <p:sp>
        <p:nvSpPr>
          <p:cNvPr name="TextBox 31" id="31"/>
          <p:cNvSpPr txBox="true"/>
          <p:nvPr/>
        </p:nvSpPr>
        <p:spPr>
          <a:xfrm rot="137109">
            <a:off x="9863308" y="4422813"/>
            <a:ext cx="1793986" cy="32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45">
                <a:solidFill>
                  <a:srgbClr val="151B39">
                    <a:alpha val="60000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Informations        Pâtes        Vélation</a:t>
            </a:r>
          </a:p>
        </p:txBody>
      </p:sp>
      <p:sp>
        <p:nvSpPr>
          <p:cNvPr name="TextBox 32" id="32"/>
          <p:cNvSpPr txBox="true"/>
          <p:nvPr/>
        </p:nvSpPr>
        <p:spPr>
          <a:xfrm rot="-63281">
            <a:off x="10240599" y="7448325"/>
            <a:ext cx="1738010" cy="18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9"/>
              </a:lnSpc>
            </a:pPr>
            <a:r>
              <a:rPr lang="en-US" sz="1265" spc="-12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Soumettre la demande</a:t>
            </a:r>
          </a:p>
        </p:txBody>
      </p:sp>
      <p:sp>
        <p:nvSpPr>
          <p:cNvPr name="TextBox 33" id="33"/>
          <p:cNvSpPr txBox="true"/>
          <p:nvPr/>
        </p:nvSpPr>
        <p:spPr>
          <a:xfrm rot="52734">
            <a:off x="12574822" y="6930720"/>
            <a:ext cx="1607271" cy="1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spc="-10">
                <a:solidFill>
                  <a:srgbClr val="151B39"/>
                </a:solidFill>
                <a:latin typeface="DM Sans"/>
                <a:ea typeface="DM Sans"/>
                <a:cs typeface="DM Sans"/>
                <a:sym typeface="DM Sans"/>
              </a:rPr>
              <a:t>Signé électroniquement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662" y="884773"/>
            <a:ext cx="8564230" cy="8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6124" spc="-122" b="true">
                <a:solidFill>
                  <a:srgbClr val="F6F6F6"/>
                </a:solidFill>
                <a:latin typeface="Gotham Bold"/>
                <a:ea typeface="Gotham Bold"/>
                <a:cs typeface="Gotham Bold"/>
                <a:sym typeface="Gotham Bold"/>
              </a:rPr>
              <a:t>Credential vérifiable 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569017"/>
            <a:ext cx="4145426" cy="4296271"/>
          </a:xfrm>
          <a:custGeom>
            <a:avLst/>
            <a:gdLst/>
            <a:ahLst/>
            <a:cxnLst/>
            <a:rect r="r" b="b" t="t" l="l"/>
            <a:pathLst>
              <a:path h="4296271" w="4145426">
                <a:moveTo>
                  <a:pt x="0" y="0"/>
                </a:moveTo>
                <a:lnTo>
                  <a:pt x="4145426" y="0"/>
                </a:lnTo>
                <a:lnTo>
                  <a:pt x="4145426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7866" y="6635716"/>
            <a:ext cx="1093780" cy="874559"/>
          </a:xfrm>
          <a:custGeom>
            <a:avLst/>
            <a:gdLst/>
            <a:ahLst/>
            <a:cxnLst/>
            <a:rect r="r" b="b" t="t" l="l"/>
            <a:pathLst>
              <a:path h="874559" w="1093780">
                <a:moveTo>
                  <a:pt x="0" y="0"/>
                </a:moveTo>
                <a:lnTo>
                  <a:pt x="1093780" y="0"/>
                </a:lnTo>
                <a:lnTo>
                  <a:pt x="109378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41581" y="6941698"/>
            <a:ext cx="285674" cy="49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77">
                <a:solidFill>
                  <a:srgbClr val="08182B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6584" y="7840746"/>
            <a:ext cx="2383169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b="true" sz="3478" spc="-69">
                <a:solidFill>
                  <a:srgbClr val="81B242"/>
                </a:solidFill>
                <a:latin typeface="DM Sans Bold"/>
                <a:ea typeface="DM Sans Bold"/>
                <a:cs typeface="DM Sans Bold"/>
                <a:sym typeface="DM Sans Bold"/>
              </a:rPr>
              <a:t>DEMANDER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3924" y="8436415"/>
            <a:ext cx="1008489" cy="28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b="true" sz="2223" spc="-44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citoyen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79818" y="2569017"/>
            <a:ext cx="4156364" cy="4296271"/>
          </a:xfrm>
          <a:custGeom>
            <a:avLst/>
            <a:gdLst/>
            <a:ahLst/>
            <a:cxnLst/>
            <a:rect r="r" b="b" t="t" l="l"/>
            <a:pathLst>
              <a:path h="4296271" w="4156364">
                <a:moveTo>
                  <a:pt x="0" y="0"/>
                </a:moveTo>
                <a:lnTo>
                  <a:pt x="4156364" y="0"/>
                </a:lnTo>
                <a:lnTo>
                  <a:pt x="415636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29866" y="6635716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42143" y="6941698"/>
            <a:ext cx="285674" cy="49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77">
                <a:solidFill>
                  <a:srgbClr val="08182B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70512" y="7841221"/>
            <a:ext cx="1758748" cy="4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b="true" sz="3440" spc="-68">
                <a:solidFill>
                  <a:srgbClr val="81B242"/>
                </a:solidFill>
                <a:latin typeface="DM Sans Bold"/>
                <a:ea typeface="DM Sans Bold"/>
                <a:cs typeface="DM Sans Bold"/>
                <a:sym typeface="DM Sans Bold"/>
              </a:rPr>
              <a:t>VALIDER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9851" y="8436457"/>
            <a:ext cx="2608461" cy="29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b="true" sz="2267" spc="-45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agent administratif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008086" y="2776725"/>
            <a:ext cx="2843828" cy="3869923"/>
          </a:xfrm>
          <a:custGeom>
            <a:avLst/>
            <a:gdLst/>
            <a:ahLst/>
            <a:cxnLst/>
            <a:rect r="r" b="b" t="t" l="l"/>
            <a:pathLst>
              <a:path h="3869923" w="2843828">
                <a:moveTo>
                  <a:pt x="0" y="0"/>
                </a:moveTo>
                <a:lnTo>
                  <a:pt x="2843828" y="0"/>
                </a:lnTo>
                <a:lnTo>
                  <a:pt x="284382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83110" y="6635716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208760" y="6941698"/>
            <a:ext cx="285674" cy="49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77">
                <a:solidFill>
                  <a:srgbClr val="08182B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98810" y="7840746"/>
            <a:ext cx="2114147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b="true" sz="3478" spc="-69">
                <a:solidFill>
                  <a:srgbClr val="81B242"/>
                </a:solidFill>
                <a:latin typeface="DM Sans Bold"/>
                <a:ea typeface="DM Sans Bold"/>
                <a:cs typeface="DM Sans Bold"/>
                <a:sym typeface="DM Sans Bold"/>
              </a:rPr>
              <a:t>RECEVOIR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72713" y="8436457"/>
            <a:ext cx="3772236" cy="29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b="true" sz="2267" spc="-45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 numérique signé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716000" y="2569017"/>
            <a:ext cx="3926670" cy="4296271"/>
          </a:xfrm>
          <a:custGeom>
            <a:avLst/>
            <a:gdLst/>
            <a:ahLst/>
            <a:cxnLst/>
            <a:rect r="r" b="b" t="t" l="l"/>
            <a:pathLst>
              <a:path h="4296271" w="3926670">
                <a:moveTo>
                  <a:pt x="0" y="0"/>
                </a:moveTo>
                <a:lnTo>
                  <a:pt x="3926670" y="0"/>
                </a:lnTo>
                <a:lnTo>
                  <a:pt x="392667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36354" y="6635716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575377" y="6941698"/>
            <a:ext cx="285674" cy="49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77">
                <a:solidFill>
                  <a:srgbClr val="08182B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87081" y="7840746"/>
            <a:ext cx="1870840" cy="45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b="true" sz="3478" spc="-69">
                <a:solidFill>
                  <a:srgbClr val="81B242"/>
                </a:solidFill>
                <a:latin typeface="DM Sans Bold"/>
                <a:ea typeface="DM Sans Bold"/>
                <a:cs typeface="DM Sans Bold"/>
                <a:sym typeface="DM Sans Bold"/>
              </a:rPr>
              <a:t>VÉRIFIER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03799" y="8426374"/>
            <a:ext cx="3002578" cy="30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1"/>
              </a:lnSpc>
            </a:pPr>
            <a:r>
              <a:rPr lang="en-US" b="true" sz="2311" spc="-46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organisme / scanneur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040708" y="7062064"/>
            <a:ext cx="3281340" cy="448211"/>
          </a:xfrm>
          <a:custGeom>
            <a:avLst/>
            <a:gdLst/>
            <a:ahLst/>
            <a:cxnLst/>
            <a:rect r="r" b="b" t="t" l="l"/>
            <a:pathLst>
              <a:path h="448211" w="3281340">
                <a:moveTo>
                  <a:pt x="0" y="0"/>
                </a:moveTo>
                <a:lnTo>
                  <a:pt x="3281340" y="0"/>
                </a:lnTo>
                <a:lnTo>
                  <a:pt x="328134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393952" y="7062064"/>
            <a:ext cx="3281340" cy="448211"/>
          </a:xfrm>
          <a:custGeom>
            <a:avLst/>
            <a:gdLst/>
            <a:ahLst/>
            <a:cxnLst/>
            <a:rect r="r" b="b" t="t" l="l"/>
            <a:pathLst>
              <a:path h="448211" w="3281340">
                <a:moveTo>
                  <a:pt x="0" y="0"/>
                </a:moveTo>
                <a:lnTo>
                  <a:pt x="3281340" y="0"/>
                </a:lnTo>
                <a:lnTo>
                  <a:pt x="328134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65952" y="7062064"/>
            <a:ext cx="3281340" cy="448211"/>
          </a:xfrm>
          <a:custGeom>
            <a:avLst/>
            <a:gdLst/>
            <a:ahLst/>
            <a:cxnLst/>
            <a:rect r="r" b="b" t="t" l="l"/>
            <a:pathLst>
              <a:path h="448211" w="3281340">
                <a:moveTo>
                  <a:pt x="0" y="0"/>
                </a:moveTo>
                <a:lnTo>
                  <a:pt x="3281340" y="0"/>
                </a:lnTo>
                <a:lnTo>
                  <a:pt x="328134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2889" y="954793"/>
            <a:ext cx="5325901" cy="90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3"/>
              </a:lnSpc>
            </a:pPr>
            <a:r>
              <a:rPr lang="en-US" sz="6873" spc="-204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confiance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835" y="1999457"/>
            <a:ext cx="8589206" cy="92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5"/>
              </a:lnSpc>
            </a:pPr>
            <a:r>
              <a:rPr lang="en-US" sz="6925" spc="-206" b="true">
                <a:solidFill>
                  <a:srgbClr val="87B845"/>
                </a:solidFill>
                <a:latin typeface="Gotham Bold"/>
                <a:ea typeface="Gotham Bold"/>
                <a:cs typeface="Gotham Bold"/>
                <a:sym typeface="Gotham Bold"/>
              </a:rPr>
              <a:t>au cœur du système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76622" y="3640352"/>
            <a:ext cx="218756" cy="1508614"/>
          </a:xfrm>
          <a:custGeom>
            <a:avLst/>
            <a:gdLst/>
            <a:ahLst/>
            <a:cxnLst/>
            <a:rect r="r" b="b" t="t" l="l"/>
            <a:pathLst>
              <a:path h="1508614" w="218756">
                <a:moveTo>
                  <a:pt x="0" y="0"/>
                </a:moveTo>
                <a:lnTo>
                  <a:pt x="218756" y="0"/>
                </a:lnTo>
                <a:lnTo>
                  <a:pt x="21875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25370" y="3916107"/>
            <a:ext cx="3390304" cy="87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87B845"/>
                </a:solidFill>
                <a:latin typeface="DM Sans Bold"/>
                <a:ea typeface="DM Sans Bold"/>
                <a:cs typeface="DM Sans Bold"/>
                <a:sym typeface="DM Sans Bold"/>
              </a:rPr>
              <a:t>Signature numérique</a:t>
            </a:r>
          </a:p>
          <a:p>
            <a:pPr algn="l">
              <a:lnSpc>
                <a:spcPts val="3541"/>
              </a:lnSpc>
            </a:pPr>
            <a:r>
              <a:rPr lang="en-US" sz="2724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certifie le document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356674"/>
            <a:ext cx="1323474" cy="1289974"/>
          </a:xfrm>
          <a:custGeom>
            <a:avLst/>
            <a:gdLst/>
            <a:ahLst/>
            <a:cxnLst/>
            <a:rect r="r" b="b" t="t" l="l"/>
            <a:pathLst>
              <a:path h="1289974" w="1323474">
                <a:moveTo>
                  <a:pt x="0" y="0"/>
                </a:moveTo>
                <a:lnTo>
                  <a:pt x="1323474" y="0"/>
                </a:lnTo>
                <a:lnTo>
                  <a:pt x="1323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76622" y="5356674"/>
            <a:ext cx="218756" cy="1508614"/>
          </a:xfrm>
          <a:custGeom>
            <a:avLst/>
            <a:gdLst/>
            <a:ahLst/>
            <a:cxnLst/>
            <a:rect r="r" b="b" t="t" l="l"/>
            <a:pathLst>
              <a:path h="1508614" w="218756">
                <a:moveTo>
                  <a:pt x="0" y="0"/>
                </a:moveTo>
                <a:lnTo>
                  <a:pt x="218756" y="0"/>
                </a:lnTo>
                <a:lnTo>
                  <a:pt x="21875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98687" y="5603161"/>
            <a:ext cx="6058671" cy="84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53" b="true">
                <a:solidFill>
                  <a:srgbClr val="87B845"/>
                </a:solidFill>
                <a:latin typeface="DM Sans Bold"/>
                <a:ea typeface="DM Sans Bold"/>
                <a:cs typeface="DM Sans Bold"/>
                <a:sym typeface="DM Sans Bold"/>
              </a:rPr>
              <a:t>Ancrage cryptographique</a:t>
            </a:r>
          </a:p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sur Bitcoin protège contre la falsification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7062064"/>
            <a:ext cx="885962" cy="1300906"/>
          </a:xfrm>
          <a:custGeom>
            <a:avLst/>
            <a:gdLst/>
            <a:ahLst/>
            <a:cxnLst/>
            <a:rect r="r" b="b" t="t" l="l"/>
            <a:pathLst>
              <a:path h="1300906" w="885962">
                <a:moveTo>
                  <a:pt x="0" y="0"/>
                </a:moveTo>
                <a:lnTo>
                  <a:pt x="885962" y="0"/>
                </a:lnTo>
                <a:lnTo>
                  <a:pt x="88596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76622" y="7062064"/>
            <a:ext cx="218756" cy="1300906"/>
          </a:xfrm>
          <a:custGeom>
            <a:avLst/>
            <a:gdLst/>
            <a:ahLst/>
            <a:cxnLst/>
            <a:rect r="r" b="b" t="t" l="l"/>
            <a:pathLst>
              <a:path h="1300906" w="218756">
                <a:moveTo>
                  <a:pt x="0" y="0"/>
                </a:moveTo>
                <a:lnTo>
                  <a:pt x="218756" y="0"/>
                </a:lnTo>
                <a:lnTo>
                  <a:pt x="21875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97650" y="7214431"/>
            <a:ext cx="6162389" cy="87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87B845"/>
                </a:solidFill>
                <a:latin typeface="DM Sans Bold"/>
                <a:ea typeface="DM Sans Bold"/>
                <a:cs typeface="DM Sans Bold"/>
                <a:sym typeface="DM Sans Bold"/>
              </a:rPr>
              <a:t>Paiements Bitcoin Lightning via Bitnob</a:t>
            </a:r>
          </a:p>
          <a:p>
            <a:pPr algn="l">
              <a:lnSpc>
                <a:spcPts val="3541"/>
              </a:lnSpc>
            </a:pPr>
            <a:r>
              <a:rPr lang="en-US" sz="2724" spc="-5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paiement rapide et sécurisé des frais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789330" y="7499343"/>
            <a:ext cx="8290852" cy="2579949"/>
          </a:xfrm>
          <a:custGeom>
            <a:avLst/>
            <a:gdLst/>
            <a:ahLst/>
            <a:cxnLst/>
            <a:rect r="r" b="b" t="t" l="l"/>
            <a:pathLst>
              <a:path h="2579949" w="8290852">
                <a:moveTo>
                  <a:pt x="0" y="0"/>
                </a:moveTo>
                <a:lnTo>
                  <a:pt x="8290852" y="0"/>
                </a:lnTo>
                <a:lnTo>
                  <a:pt x="829085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08086" y="852695"/>
            <a:ext cx="5895474" cy="7291635"/>
          </a:xfrm>
          <a:custGeom>
            <a:avLst/>
            <a:gdLst/>
            <a:ahLst/>
            <a:cxnLst/>
            <a:rect r="r" b="b" t="t" l="l"/>
            <a:pathLst>
              <a:path h="7291635" w="5895474">
                <a:moveTo>
                  <a:pt x="0" y="0"/>
                </a:moveTo>
                <a:lnTo>
                  <a:pt x="5895474" y="0"/>
                </a:lnTo>
                <a:lnTo>
                  <a:pt x="5895474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80086" y="2776725"/>
            <a:ext cx="3062584" cy="5367606"/>
          </a:xfrm>
          <a:custGeom>
            <a:avLst/>
            <a:gdLst/>
            <a:ahLst/>
            <a:cxnLst/>
            <a:rect r="r" b="b" t="t" l="l"/>
            <a:pathLst>
              <a:path h="5367606" w="3062584">
                <a:moveTo>
                  <a:pt x="0" y="0"/>
                </a:moveTo>
                <a:lnTo>
                  <a:pt x="3062584" y="0"/>
                </a:lnTo>
                <a:lnTo>
                  <a:pt x="306258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55110" y="4066699"/>
            <a:ext cx="1312536" cy="1727254"/>
          </a:xfrm>
          <a:custGeom>
            <a:avLst/>
            <a:gdLst/>
            <a:ahLst/>
            <a:cxnLst/>
            <a:rect r="r" b="b" t="t" l="l"/>
            <a:pathLst>
              <a:path h="1727254" w="1312536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137109">
            <a:off x="15137424" y="5872265"/>
            <a:ext cx="1553766" cy="61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2055" spc="-4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Authenticité </a:t>
            </a:r>
            <a:r>
              <a:rPr lang="en-US" sz="2055" spc="-41">
                <a:solidFill>
                  <a:srgbClr val="87B845"/>
                </a:solidFill>
                <a:latin typeface="Gotham"/>
                <a:ea typeface="Gotham"/>
                <a:cs typeface="Gotham"/>
                <a:sym typeface="Gotham"/>
              </a:rPr>
              <a:t>vérifiée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8997026"/>
            <a:ext cx="13508182" cy="1289974"/>
          </a:xfrm>
          <a:custGeom>
            <a:avLst/>
            <a:gdLst/>
            <a:ahLst/>
            <a:cxnLst/>
            <a:rect r="r" b="b" t="t" l="l"/>
            <a:pathLst>
              <a:path h="1289974" w="13508182">
                <a:moveTo>
                  <a:pt x="0" y="0"/>
                </a:moveTo>
                <a:lnTo>
                  <a:pt x="13508182" y="0"/>
                </a:lnTo>
                <a:lnTo>
                  <a:pt x="1350818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64012" y="9395226"/>
            <a:ext cx="10571407" cy="439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781" spc="-55">
                <a:solidFill>
                  <a:srgbClr val="081823"/>
                </a:solidFill>
                <a:latin typeface="DM Sans"/>
                <a:ea typeface="DM Sans"/>
                <a:cs typeface="DM Sans"/>
                <a:sym typeface="DM Sans"/>
              </a:rPr>
              <a:t>L'autorité compétente reste </a:t>
            </a:r>
            <a:r>
              <a:rPr lang="en-US" sz="2781" spc="-55" b="true">
                <a:solidFill>
                  <a:srgbClr val="081823"/>
                </a:solidFill>
                <a:latin typeface="DM Sans Bold"/>
                <a:ea typeface="DM Sans Bold"/>
                <a:cs typeface="DM Sans Bold"/>
                <a:sym typeface="DM Sans Bold"/>
              </a:rPr>
              <a:t>responsable</a:t>
            </a:r>
            <a:r>
              <a:rPr lang="en-US" sz="2781" spc="-55">
                <a:solidFill>
                  <a:srgbClr val="081823"/>
                </a:solidFill>
                <a:latin typeface="DM Sans"/>
                <a:ea typeface="DM Sans"/>
                <a:cs typeface="DM Sans"/>
                <a:sym typeface="DM Sans"/>
              </a:rPr>
              <a:t> de la délivrance officielle.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1110" y="1924030"/>
            <a:ext cx="11331560" cy="8362970"/>
          </a:xfrm>
          <a:custGeom>
            <a:avLst/>
            <a:gdLst/>
            <a:ahLst/>
            <a:cxnLst/>
            <a:rect r="r" b="b" t="t" l="l"/>
            <a:pathLst>
              <a:path h="8362970" w="11331560">
                <a:moveTo>
                  <a:pt x="0" y="0"/>
                </a:moveTo>
                <a:lnTo>
                  <a:pt x="11331560" y="0"/>
                </a:lnTo>
                <a:lnTo>
                  <a:pt x="11331560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9732" y="852695"/>
            <a:ext cx="4582938" cy="6012593"/>
          </a:xfrm>
          <a:custGeom>
            <a:avLst/>
            <a:gdLst/>
            <a:ahLst/>
            <a:cxnLst/>
            <a:rect r="r" b="b" t="t" l="l"/>
            <a:pathLst>
              <a:path h="6012593" w="4582938">
                <a:moveTo>
                  <a:pt x="0" y="0"/>
                </a:moveTo>
                <a:lnTo>
                  <a:pt x="4582938" y="0"/>
                </a:lnTo>
                <a:lnTo>
                  <a:pt x="4582938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61330" y="3421712"/>
            <a:ext cx="3718852" cy="4722618"/>
          </a:xfrm>
          <a:custGeom>
            <a:avLst/>
            <a:gdLst/>
            <a:ahLst/>
            <a:cxnLst/>
            <a:rect r="r" b="b" t="t" l="l"/>
            <a:pathLst>
              <a:path h="4722618" w="3718852">
                <a:moveTo>
                  <a:pt x="0" y="0"/>
                </a:moveTo>
                <a:lnTo>
                  <a:pt x="3718852" y="0"/>
                </a:lnTo>
                <a:lnTo>
                  <a:pt x="371885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78488" y="5138034"/>
            <a:ext cx="4145426" cy="4514911"/>
          </a:xfrm>
          <a:custGeom>
            <a:avLst/>
            <a:gdLst/>
            <a:ahLst/>
            <a:cxnLst/>
            <a:rect r="r" b="b" t="t" l="l"/>
            <a:pathLst>
              <a:path h="4514911" w="4145426">
                <a:moveTo>
                  <a:pt x="0" y="0"/>
                </a:moveTo>
                <a:lnTo>
                  <a:pt x="4145426" y="0"/>
                </a:lnTo>
                <a:lnTo>
                  <a:pt x="4145426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1954" y="1160138"/>
            <a:ext cx="7419410" cy="3150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0"/>
              </a:lnSpc>
            </a:pPr>
            <a:r>
              <a:rPr lang="en-US" sz="5258" spc="-51" b="true">
                <a:solidFill>
                  <a:srgbClr val="F6F6F6"/>
                </a:solidFill>
                <a:latin typeface="Gotham Bold"/>
                <a:ea typeface="Gotham Bold"/>
                <a:cs typeface="Gotham Bold"/>
                <a:sym typeface="Gotham Bold"/>
              </a:rPr>
              <a:t>Une première application</a:t>
            </a:r>
          </a:p>
          <a:p>
            <a:pPr algn="l">
              <a:lnSpc>
                <a:spcPts val="6310"/>
              </a:lnSpc>
            </a:pPr>
            <a:r>
              <a:rPr lang="en-US" sz="5258" spc="-51" b="true">
                <a:solidFill>
                  <a:srgbClr val="F6F6F6"/>
                </a:solidFill>
                <a:latin typeface="Gotham Bold"/>
                <a:ea typeface="Gotham Bold"/>
                <a:cs typeface="Gotham Bold"/>
                <a:sym typeface="Gotham Bold"/>
              </a:rPr>
              <a:t>concrète,</a:t>
            </a:r>
          </a:p>
          <a:p>
            <a:pPr algn="l">
              <a:lnSpc>
                <a:spcPts val="6310"/>
              </a:lnSpc>
            </a:pPr>
            <a:r>
              <a:rPr lang="en-US" sz="5258" spc="-51" b="true">
                <a:solidFill>
                  <a:srgbClr val="81B240"/>
                </a:solidFill>
                <a:latin typeface="Gotham Bold"/>
                <a:ea typeface="Gotham Bold"/>
                <a:cs typeface="Gotham Bold"/>
                <a:sym typeface="Gotham Bold"/>
              </a:rPr>
              <a:t>un potentiel immense.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574" y="4919394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1366" y="5457544"/>
            <a:ext cx="4478249" cy="7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8"/>
              </a:lnSpc>
            </a:pPr>
            <a:r>
              <a:rPr lang="en-US" sz="2381" spc="-23" b="true">
                <a:solidFill>
                  <a:srgbClr val="81B240"/>
                </a:solidFill>
                <a:latin typeface="DM Sans Bold"/>
                <a:ea typeface="DM Sans Bold"/>
                <a:cs typeface="DM Sans Bold"/>
                <a:sym typeface="DM Sans Bold"/>
              </a:rPr>
              <a:t>Aujourd'hui :</a:t>
            </a:r>
          </a:p>
          <a:p>
            <a:pPr algn="l">
              <a:lnSpc>
                <a:spcPts val="2858"/>
              </a:lnSpc>
            </a:pPr>
            <a:r>
              <a:rPr lang="en-US" sz="2381" spc="-23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certificats administratifs en ligne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6574" y="6428009"/>
            <a:ext cx="6332986" cy="218640"/>
          </a:xfrm>
          <a:custGeom>
            <a:avLst/>
            <a:gdLst/>
            <a:ahLst/>
            <a:cxnLst/>
            <a:rect r="r" b="b" t="t" l="l"/>
            <a:pathLst>
              <a:path h="218640" w="6332986">
                <a:moveTo>
                  <a:pt x="0" y="0"/>
                </a:moveTo>
                <a:lnTo>
                  <a:pt x="6332986" y="0"/>
                </a:lnTo>
                <a:lnTo>
                  <a:pt x="633298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5985" y="6710383"/>
            <a:ext cx="4016388" cy="142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8"/>
              </a:lnSpc>
            </a:pPr>
            <a:r>
              <a:rPr lang="en-US" sz="2381" spc="-23" b="true">
                <a:solidFill>
                  <a:srgbClr val="81B240"/>
                </a:solidFill>
                <a:latin typeface="DM Sans Bold"/>
                <a:ea typeface="DM Sans Bold"/>
                <a:cs typeface="DM Sans Bold"/>
                <a:sym typeface="DM Sans Bold"/>
              </a:rPr>
              <a:t>Domain :</a:t>
            </a:r>
          </a:p>
          <a:p>
            <a:pPr algn="l">
              <a:lnSpc>
                <a:spcPts val="2858"/>
              </a:lnSpc>
            </a:pPr>
            <a:r>
              <a:rPr lang="en-US" sz="2381" spc="-23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diplômes, attestations,</a:t>
            </a:r>
          </a:p>
          <a:p>
            <a:pPr algn="l">
              <a:lnSpc>
                <a:spcPts val="2858"/>
              </a:lnSpc>
            </a:pPr>
            <a:r>
              <a:rPr lang="en-US" sz="2381" spc="-23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certificats professionnels,</a:t>
            </a:r>
          </a:p>
          <a:p>
            <a:pPr algn="l">
              <a:lnSpc>
                <a:spcPts val="2858"/>
              </a:lnSpc>
            </a:pPr>
            <a:r>
              <a:rPr lang="en-US" sz="2381" spc="-23">
                <a:solidFill>
                  <a:srgbClr val="F6F6F6"/>
                </a:solidFill>
                <a:latin typeface="DM Sans"/>
                <a:ea typeface="DM Sans"/>
                <a:cs typeface="DM Sans"/>
                <a:sym typeface="DM Sans"/>
              </a:rPr>
              <a:t>autres documents vérifiables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6574" y="8352038"/>
            <a:ext cx="6332986" cy="229572"/>
          </a:xfrm>
          <a:custGeom>
            <a:avLst/>
            <a:gdLst/>
            <a:ahLst/>
            <a:cxnLst/>
            <a:rect r="r" b="b" t="t" l="l"/>
            <a:pathLst>
              <a:path h="229572" w="6332986">
                <a:moveTo>
                  <a:pt x="0" y="0"/>
                </a:moveTo>
                <a:lnTo>
                  <a:pt x="6332986" y="0"/>
                </a:lnTo>
                <a:lnTo>
                  <a:pt x="633298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5154" y="8677776"/>
            <a:ext cx="5099491" cy="74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Une architecture pensée</a:t>
            </a:r>
          </a:p>
          <a:p>
            <a:pPr algn="l">
              <a:lnSpc>
                <a:spcPts val="2974"/>
              </a:lnSpc>
            </a:pPr>
            <a:r>
              <a:rPr lang="en-US" sz="2478" spc="-24" b="true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pour s'adapter à </a:t>
            </a:r>
            <a:r>
              <a:rPr lang="en-US" sz="2478" spc="-24" b="true">
                <a:solidFill>
                  <a:srgbClr val="81B240"/>
                </a:solidFill>
                <a:latin typeface="DM Sans Bold"/>
                <a:ea typeface="DM Sans Bold"/>
                <a:cs typeface="DM Sans Bold"/>
                <a:sym typeface="DM Sans Bold"/>
              </a:rPr>
              <a:t>multiples usages.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6488" y="0"/>
            <a:ext cx="9581512" cy="10287000"/>
          </a:xfrm>
          <a:custGeom>
            <a:avLst/>
            <a:gdLst/>
            <a:ahLst/>
            <a:cxnLst/>
            <a:rect r="r" b="b" t="t" l="l"/>
            <a:pathLst>
              <a:path h="10287000" w="9581512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639" y="1398750"/>
            <a:ext cx="4472023" cy="174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b="true" sz="6352" spc="158">
                <a:solidFill>
                  <a:srgbClr val="F8F8F8"/>
                </a:solidFill>
                <a:latin typeface="Gotham Bold"/>
                <a:ea typeface="Gotham Bold"/>
                <a:cs typeface="Gotham Bold"/>
                <a:sym typeface="Gotham Bold"/>
              </a:rPr>
              <a:t>NOTRE </a:t>
            </a:r>
            <a:r>
              <a:rPr lang="en-US" b="true" sz="6352" spc="158">
                <a:solidFill>
                  <a:srgbClr val="84B444"/>
                </a:solidFill>
                <a:latin typeface="Gotham Bold"/>
                <a:ea typeface="Gotham Bold"/>
                <a:cs typeface="Gotham Bold"/>
                <a:sym typeface="Gotham Bold"/>
              </a:rPr>
              <a:t>AMBITION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421712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7248" y="4102160"/>
            <a:ext cx="6211134" cy="155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6" b="true">
                <a:solidFill>
                  <a:srgbClr val="F1F1F1"/>
                </a:solidFill>
                <a:latin typeface="DM Sans Bold"/>
                <a:ea typeface="DM Sans Bold"/>
                <a:cs typeface="DM Sans Bold"/>
                <a:sym typeface="DM Sans Bold"/>
              </a:rPr>
              <a:t>Payer, obtenir et vérifier des documents </a:t>
            </a:r>
            <a:r>
              <a:rPr lang="en-US" sz="2996" b="true">
                <a:solidFill>
                  <a:srgbClr val="89B841"/>
                </a:solidFill>
                <a:latin typeface="DM Sans Bold"/>
                <a:ea typeface="DM Sans Bold"/>
                <a:cs typeface="DM Sans Bold"/>
                <a:sym typeface="DM Sans Bold"/>
              </a:rPr>
              <a:t>au-delà des frontières.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5783021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6685" y="6186092"/>
            <a:ext cx="5969242" cy="161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3096" b="true">
                <a:solidFill>
                  <a:srgbClr val="F1F1F1"/>
                </a:solidFill>
                <a:latin typeface="DM Sans Bold"/>
                <a:ea typeface="DM Sans Bold"/>
                <a:cs typeface="DM Sans Bold"/>
                <a:sym typeface="DM Sans Bold"/>
              </a:rPr>
              <a:t>Des démarches</a:t>
            </a:r>
            <a:r>
              <a:rPr lang="en-US" sz="3096" b="true">
                <a:solidFill>
                  <a:srgbClr val="89B841"/>
                </a:solidFill>
                <a:latin typeface="DM Sans Bold"/>
                <a:ea typeface="DM Sans Bold"/>
                <a:cs typeface="DM Sans Bold"/>
                <a:sym typeface="DM Sans Bold"/>
              </a:rPr>
              <a:t> simplifiées</a:t>
            </a:r>
            <a:r>
              <a:rPr lang="en-US" sz="3096" b="true">
                <a:solidFill>
                  <a:srgbClr val="F1F1F1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  <a:p>
            <a:pPr algn="l">
              <a:lnSpc>
                <a:spcPts val="4334"/>
              </a:lnSpc>
            </a:pPr>
            <a:r>
              <a:rPr lang="en-US" sz="3096" b="true">
                <a:solidFill>
                  <a:srgbClr val="F1F1F1"/>
                </a:solidFill>
                <a:latin typeface="DM Sans Bold"/>
                <a:ea typeface="DM Sans Bold"/>
                <a:cs typeface="DM Sans Bold"/>
                <a:sym typeface="DM Sans Bold"/>
              </a:rPr>
              <a:t>Des échanges </a:t>
            </a:r>
            <a:r>
              <a:rPr lang="en-US" sz="3096" b="true">
                <a:solidFill>
                  <a:srgbClr val="89B841"/>
                </a:solidFill>
                <a:latin typeface="DM Sans Bold"/>
                <a:ea typeface="DM Sans Bold"/>
                <a:cs typeface="DM Sans Bold"/>
                <a:sym typeface="DM Sans Bold"/>
              </a:rPr>
              <a:t>sans frontières</a:t>
            </a:r>
            <a:r>
              <a:rPr lang="en-US" sz="3096" b="true">
                <a:solidFill>
                  <a:srgbClr val="F1F1F1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  <a:p>
            <a:pPr algn="l">
              <a:lnSpc>
                <a:spcPts val="433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7499343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3028" y="7837249"/>
            <a:ext cx="4633159" cy="98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84B444"/>
                </a:solidFill>
                <a:latin typeface="DM Sans Bold"/>
                <a:ea typeface="DM Sans Bold"/>
                <a:cs typeface="DM Sans Bold"/>
                <a:sym typeface="DM Sans Bold"/>
              </a:rPr>
              <a:t>Une confiance vérifiable.</a:t>
            </a:r>
          </a:p>
          <a:p>
            <a:pPr algn="l">
              <a:lnSpc>
                <a:spcPts val="4054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455110" y="6854356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598584" y="9069359"/>
            <a:ext cx="1712660" cy="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true">
                <a:solidFill>
                  <a:srgbClr val="F1F1F1"/>
                </a:solidFill>
                <a:latin typeface="DM Sans Bold"/>
                <a:ea typeface="DM Sans Bold"/>
                <a:cs typeface="DM Sans Bold"/>
                <a:sym typeface="DM Sans Bold"/>
              </a:rPr>
              <a:t>Vérification numérique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DAHYSuQKAms</dc:identifier>
  <dcterms:modified xsi:type="dcterms:W3CDTF">2011-08-01T06:04:30Z</dcterms:modified>
  <cp:revision>1</cp:revision>
  <dc:title>Pitch DioteKo</dc:title>
</cp:coreProperties>
</file>