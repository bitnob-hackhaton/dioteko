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86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 – 0:10 · 10 s] Bonjour, nous sommes l'équipe DioteKo. Notre projet : faire circuler la valeur et renforcer la confiance, entre la diaspora et ses familles.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[0:10 – 0:30 · 20 s] Envoyer de l'argent ne devrait pas coûter la confiance. Pour la diaspora africaine, chaque transfert traverse des frais opaques, des délais et des intermédiaires : jusqu'à 8 % de frais sur certains corridors.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[0:30 – 0:45 · 15 s] DioteKo rend la valeur simple, traçable, immédiate : une expérience intégrée, propulsée par Bitcoin et connectée à Bitnob. Sécurité vérifiable, conversion fluide, suivi transparent.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[0:45 – 1:05 · 20 s] Démo, première partie. Connexion en un geste avec Apple ou Google, création de compte, puis l'accueil : vos demandes d'un coup d'œil et les services disponibles.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[1:05 – 1:25 · 20 s] Deuxième partie. Je choisis un document dans le catalogue, je remplis le formulaire, la demande est acceptée, puis je paie avec une facture Bitcoin Lightning en scannant un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[1:25 – 1:45 · 20 s] Troisième partie. Le certificat est émis automatiquement. N'importe qui peut le vérifier en saisissant l'identifiant ou en scannant le QR code. L'utilisateur garde la main depuis son profil.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[1:45 – 2:05 · 20 s] Une architecture lisible : le front-end pour l'interface, le back-end pour la logique métier, la blockchain pour la preuve immuable, et l'API Bitnob pour la liquidité et la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[2:05 – 2:30 · 25 s] Ce qui est réalisé : le parcours produit complet, l'architecture cible, le modèle de confiance et l'application mobile. Les paiements de la démo sont simulés. Ensuite : un pilote diaspora au T1 2027, les intégrations au T2, le lancement au 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[2:30 – 2:45 · 15 s] Le résultat : moins de coûts, plus de sûreté, plus de rapidité, et un flux 100 % lisible. Pour la diaspora, moins d'incertitude. Pour les familles, plus d'impact.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[2:45 – 3:00 · 15 s] Faire circuler la valeur. Renforcer la confiance. Soutenez le pilote, rejoignez le projet : contact@dioteko.com. Merci, nous sommes prêts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0"/>
            <a:ext cx="4635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8500" y="914400"/>
            <a:ext cx="571500" cy="3810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1270000"/>
            <a:ext cx="6667500" cy="146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>
                <a:solidFill>
                  <a:srgbClr val="FFFFFF"/>
                </a:solidFill>
                <a:latin typeface="Montserrat"/>
              </a:rPr>
              <a:t>DioteKo ·</a:t>
            </a:r>
          </a:p>
          <a:p>
            <a:pPr algn="l">
              <a:lnSpc>
                <a:spcPct val="105000"/>
              </a:lnSpc>
            </a:pPr>
            <a:r>
              <a:rPr sz="5000" b="1">
                <a:solidFill>
                  <a:srgbClr val="FFFFFF"/>
                </a:solidFill>
                <a:latin typeface="Montserrat"/>
              </a:rPr>
              <a:t>Code &amp; Chain Dakar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952750"/>
            <a:ext cx="508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3AD7A4"/>
                </a:solidFill>
                <a:latin typeface="Open Sans"/>
              </a:rPr>
              <a:t>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55118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ns"/>
              </a:rPr>
              <a:t>Équipe DioteKo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2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698500"/>
            <a:ext cx="53975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2263A"/>
                </a:solidFill>
                <a:latin typeface="Montserrat"/>
              </a:rPr>
              <a:t>Envoyer de l’argent ne devrait pas coûter la confiance.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667000"/>
            <a:ext cx="4953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F90"/>
                </a:solidFill>
                <a:latin typeface="Open Sans"/>
              </a:rPr>
              <a:t>Pour la diaspora africaine, chaque transfert traverse des frais opaques, des délais et des intermédiaires difficiles à suivre.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4381500"/>
            <a:ext cx="5080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>
                <a:solidFill>
                  <a:srgbClr val="3AD7A4"/>
                </a:solidFill>
                <a:latin typeface="Montserrat"/>
              </a:rPr>
              <a:t>Jusqu’à 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5080000"/>
            <a:ext cx="508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2263A"/>
                </a:solidFill>
                <a:latin typeface="Open Sans"/>
              </a:rPr>
              <a:t>de frais sur certains corridors, un impact direct sur le montant reçu.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5334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Montserrat"/>
              </a:rPr>
              <a:t>DioteKo rend la valeur simple, traçable, immédiate.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8796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FE6ED"/>
                </a:solidFill>
                <a:latin typeface="Open Sans"/>
              </a:rPr>
              <a:t>Une expérience intégrée, propulsée par Bitcoin et connectée à Bitnob.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302000"/>
            <a:ext cx="16510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2263A"/>
                </a:solidFill>
                <a:latin typeface="Montserrat"/>
              </a:rPr>
              <a:t>Diaspora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98700" y="3759200"/>
            <a:ext cx="5207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9250" y="3302000"/>
            <a:ext cx="1651000" cy="952500"/>
          </a:xfrm>
          <a:prstGeom prst="roundRect">
            <a:avLst>
              <a:gd name="adj" fmla="val 16000"/>
            </a:avLst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2263A"/>
                </a:solidFill>
                <a:latin typeface="Montserrat"/>
              </a:rPr>
              <a:t>DioteKo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6450" y="3759200"/>
            <a:ext cx="5207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07000" y="3302000"/>
            <a:ext cx="16510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2263A"/>
                </a:solidFill>
                <a:latin typeface="Montserrat"/>
              </a:rPr>
              <a:t>Bitcoin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759200"/>
            <a:ext cx="5207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0" y="3302000"/>
            <a:ext cx="16510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2263A"/>
                </a:solidFill>
                <a:latin typeface="Montserrat"/>
              </a:rPr>
              <a:t>Bitnob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51950" y="3759200"/>
            <a:ext cx="5207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42500" y="3302000"/>
            <a:ext cx="16510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2263A"/>
                </a:solidFill>
                <a:latin typeface="Montserrat"/>
              </a:rPr>
              <a:t>Famille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514350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Open Sans"/>
              </a:rPr>
              <a:t>Sécurité vérifiable  •  conversion fluide  •  suivi transparent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355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E8F68"/>
                </a:solidFill>
                <a:latin typeface="Open Sans"/>
              </a:rPr>
              <a:t>DÉMO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0" y="355600"/>
            <a:ext cx="5143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F90"/>
                </a:solidFill>
                <a:latin typeface="Open Sans"/>
              </a:rPr>
              <a:t>Captures réelles de l’application DioteKo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5842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63A"/>
                </a:solidFill>
                <a:latin typeface="Montserrat"/>
              </a:rPr>
              <a:t>Une connexion simple, un espace personnel.</a:t>
            </a:r>
          </a:p>
        </p:txBody>
      </p:sp>
      <p:pic>
        <p:nvPicPr>
          <p:cNvPr id="5" name="Picture 4" descr="s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8500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E-mail, Apple ou Google</a:t>
            </a:r>
          </a:p>
        </p:txBody>
      </p:sp>
      <p:sp>
        <p:nvSpPr>
          <p:cNvPr id="9" name="Chevron 8"/>
          <p:cNvSpPr/>
          <p:nvPr/>
        </p:nvSpPr>
        <p:spPr>
          <a:xfrm>
            <a:off x="3100916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733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623733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3733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Création de compte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733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Inscription en quelques champs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6150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966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548966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966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Accueil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966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Vue d’ensemble des demandes</a:t>
            </a:r>
          </a:p>
        </p:txBody>
      </p:sp>
      <p:sp>
        <p:nvSpPr>
          <p:cNvPr id="19" name="Chevron 18"/>
          <p:cNvSpPr/>
          <p:nvPr/>
        </p:nvSpPr>
        <p:spPr>
          <a:xfrm>
            <a:off x="8951383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200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474200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4200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4200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Les documents disponibles, 100 sats chacun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355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E8F68"/>
                </a:solidFill>
                <a:latin typeface="Open Sans"/>
              </a:rPr>
              <a:t>DÉMO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0" y="355600"/>
            <a:ext cx="5143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F90"/>
                </a:solidFill>
                <a:latin typeface="Open Sans"/>
              </a:rPr>
              <a:t>Captures réelles de l’application DioteKo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5842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63A"/>
                </a:solidFill>
                <a:latin typeface="Montserrat"/>
              </a:rPr>
              <a:t>Demander et payer en quelques écrans.</a:t>
            </a:r>
          </a:p>
        </p:txBody>
      </p:sp>
      <p:pic>
        <p:nvPicPr>
          <p:cNvPr id="5" name="Picture 4" descr="s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8500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5 documents officiels, 100 sats chacun</a:t>
            </a:r>
          </a:p>
        </p:txBody>
      </p:sp>
      <p:sp>
        <p:nvSpPr>
          <p:cNvPr id="9" name="Chevron 8"/>
          <p:cNvSpPr/>
          <p:nvPr/>
        </p:nvSpPr>
        <p:spPr>
          <a:xfrm>
            <a:off x="3100916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733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623733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3733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Formulaire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733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Extrait de naissance, identité vérifiée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6150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966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548966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966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Paiement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966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Demande acceptée, choix du moyen de paiement</a:t>
            </a:r>
          </a:p>
        </p:txBody>
      </p:sp>
      <p:sp>
        <p:nvSpPr>
          <p:cNvPr id="19" name="Chevron 18"/>
          <p:cNvSpPr/>
          <p:nvPr/>
        </p:nvSpPr>
        <p:spPr>
          <a:xfrm>
            <a:off x="8951383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200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474200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4200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Facture Lightning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4200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QR code, 100 sats, expire dans 30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355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E8F68"/>
                </a:solidFill>
                <a:latin typeface="Open Sans"/>
              </a:rPr>
              <a:t>DÉMO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0" y="355600"/>
            <a:ext cx="5143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F90"/>
                </a:solidFill>
                <a:latin typeface="Open Sans"/>
              </a:rPr>
              <a:t>Captures réelles de l’application DioteKo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5842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63A"/>
                </a:solidFill>
                <a:latin typeface="Montserrat"/>
              </a:rPr>
              <a:t>Un certificat émis, vérifiable en un scan.</a:t>
            </a:r>
          </a:p>
        </p:txBody>
      </p:sp>
      <p:pic>
        <p:nvPicPr>
          <p:cNvPr id="5" name="Picture 4" descr="s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8500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Certificat émis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Détails de la demande et PDF signé</a:t>
            </a:r>
          </a:p>
        </p:txBody>
      </p:sp>
      <p:sp>
        <p:nvSpPr>
          <p:cNvPr id="9" name="Chevron 8"/>
          <p:cNvSpPr/>
          <p:nvPr/>
        </p:nvSpPr>
        <p:spPr>
          <a:xfrm>
            <a:off x="3100916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733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623733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3733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Vérification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733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Identifiant saisi ou QR code scanné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6150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966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548966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966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Scan du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966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Lecture directe avec la caméra</a:t>
            </a:r>
          </a:p>
        </p:txBody>
      </p:sp>
      <p:sp>
        <p:nvSpPr>
          <p:cNvPr id="19" name="Chevron 18"/>
          <p:cNvSpPr/>
          <p:nvPr/>
        </p:nvSpPr>
        <p:spPr>
          <a:xfrm>
            <a:off x="8951383" y="3321050"/>
            <a:ext cx="139700" cy="228600"/>
          </a:xfrm>
          <a:prstGeom prst="chevron">
            <a:avLst/>
          </a:prstGeom>
          <a:solidFill>
            <a:srgbClr val="0E8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0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200" y="1244600"/>
            <a:ext cx="2019300" cy="4381500"/>
          </a:xfrm>
          <a:prstGeom prst="roundRect">
            <a:avLst>
              <a:gd name="adj" fmla="val 13207"/>
            </a:avLst>
          </a:prstGeom>
          <a:ln w="19050">
            <a:solidFill>
              <a:srgbClr val="12263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474200" y="5765800"/>
            <a:ext cx="20193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68"/>
                </a:solidFill>
                <a:latin typeface="Open Sans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4200" y="5930900"/>
            <a:ext cx="2019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63A"/>
                </a:solidFill>
                <a:latin typeface="Montserrat"/>
              </a:rPr>
              <a:t>Profil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4200" y="6197600"/>
            <a:ext cx="20193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D6275"/>
                </a:solidFill>
                <a:latin typeface="Open Sans"/>
              </a:rPr>
              <a:t>Identité, sécurité,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533400"/>
            <a:ext cx="1079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Une architecture lisible, pensée pour évoluer.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8500" y="2667000"/>
            <a:ext cx="2159000" cy="1206500"/>
          </a:xfrm>
          <a:prstGeom prst="roundRect">
            <a:avLst>
              <a:gd name="adj" fmla="val 115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12263A"/>
                </a:solidFill>
                <a:latin typeface="Montserrat"/>
              </a:rPr>
              <a:t>Front-end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4064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5DF"/>
                </a:solidFill>
                <a:latin typeface="Open Sans"/>
              </a:rPr>
              <a:t>Interface utilisateur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931583" y="3257550"/>
            <a:ext cx="5715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77166" y="2667000"/>
            <a:ext cx="2159000" cy="1206500"/>
          </a:xfrm>
          <a:prstGeom prst="roundRect">
            <a:avLst>
              <a:gd name="adj" fmla="val 115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12263A"/>
                </a:solidFill>
                <a:latin typeface="Montserrat"/>
              </a:rPr>
              <a:t>Back-end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7166" y="4064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5DF"/>
                </a:solidFill>
                <a:latin typeface="Open Sans"/>
              </a:rPr>
              <a:t>Logique métier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49" y="3257550"/>
            <a:ext cx="5715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55833" y="2667000"/>
            <a:ext cx="2159000" cy="1206500"/>
          </a:xfrm>
          <a:prstGeom prst="roundRect">
            <a:avLst>
              <a:gd name="adj" fmla="val 11578"/>
            </a:avLst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12263A"/>
                </a:solidFill>
                <a:latin typeface="Montserrat"/>
              </a:rPr>
              <a:t>Blockchain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833" y="4064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5DF"/>
                </a:solidFill>
                <a:latin typeface="Open Sans"/>
              </a:rPr>
              <a:t>Preuve immuable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8916" y="3257550"/>
            <a:ext cx="571500" cy="3175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34500" y="2667000"/>
            <a:ext cx="2159000" cy="1206500"/>
          </a:xfrm>
          <a:prstGeom prst="roundRect">
            <a:avLst>
              <a:gd name="adj" fmla="val 115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12263A"/>
                </a:solidFill>
                <a:latin typeface="Montserrat"/>
              </a:rPr>
              <a:t>API Bitnob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0" y="4064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5DF"/>
                </a:solidFill>
                <a:latin typeface="Open Sans"/>
              </a:rPr>
              <a:t>Liquidité &amp; conversion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533400"/>
            <a:ext cx="1079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2263A"/>
                </a:solidFill>
                <a:latin typeface="Montserrat"/>
              </a:rPr>
              <a:t>Réalisés et perspectives.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117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F90"/>
                </a:solidFill>
                <a:latin typeface="Open Sans"/>
              </a:rPr>
              <a:t>Ce qui est en place aujourd’hui, et la feuille de route.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8500" y="1841500"/>
            <a:ext cx="5207000" cy="387350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100" y="2133600"/>
            <a:ext cx="444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C2233"/>
                </a:solidFill>
                <a:latin typeface="Open Sans"/>
              </a:rPr>
              <a:t>RÉALISÉS · PROTOTYPE T0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100" y="2489200"/>
            <a:ext cx="4495800" cy="9525"/>
          </a:xfrm>
          <a:prstGeom prst="rect">
            <a:avLst/>
          </a:prstGeom>
          <a:solidFill>
            <a:srgbClr val="2FB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100" y="267970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C2233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100" y="26416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C2233"/>
                </a:solidFill>
                <a:latin typeface="Montserrat"/>
              </a:rPr>
              <a:t>Parcours produit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100" y="29210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C2233"/>
                </a:solidFill>
                <a:latin typeface="Open Sans"/>
              </a:rPr>
              <a:t>Demande, paiement, émission et vérification d’un certificat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4100" y="3270250"/>
            <a:ext cx="4495800" cy="9525"/>
          </a:xfrm>
          <a:prstGeom prst="rect">
            <a:avLst/>
          </a:prstGeom>
          <a:solidFill>
            <a:srgbClr val="2FB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4100" y="346075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C2233"/>
                </a:solidFill>
                <a:latin typeface="Open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100" y="342265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C2233"/>
                </a:solidFill>
                <a:latin typeface="Montserrat"/>
              </a:rPr>
              <a:t>Architecture cible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100" y="370205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C2233"/>
                </a:solidFill>
                <a:latin typeface="Open Sans"/>
              </a:rPr>
              <a:t>Front-end, back-end, blockchain et API Bitnob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4100" y="4051300"/>
            <a:ext cx="4495800" cy="9525"/>
          </a:xfrm>
          <a:prstGeom prst="rect">
            <a:avLst/>
          </a:prstGeom>
          <a:solidFill>
            <a:srgbClr val="2FB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4100" y="424180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C2233"/>
                </a:solidFill>
                <a:latin typeface="Open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100" y="42037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C2233"/>
                </a:solidFill>
                <a:latin typeface="Montserrat"/>
              </a:rPr>
              <a:t>Modèle de confiance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100" y="44831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C2233"/>
                </a:solidFill>
                <a:latin typeface="Open Sans"/>
              </a:rPr>
              <a:t>Trois rôles : émetteur, porteur, vérificateur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100" y="4832350"/>
            <a:ext cx="4495800" cy="9525"/>
          </a:xfrm>
          <a:prstGeom prst="rect">
            <a:avLst/>
          </a:prstGeom>
          <a:solidFill>
            <a:srgbClr val="2FB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4100" y="502285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C2233"/>
                </a:solidFill>
                <a:latin typeface="Open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100" y="498475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C2233"/>
                </a:solidFill>
                <a:latin typeface="Montserrat"/>
              </a:rPr>
              <a:t>Application mobile fonctionnelle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100" y="526415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C2233"/>
                </a:solidFill>
                <a:latin typeface="Open Sans"/>
              </a:rPr>
              <a:t>Connexion, demandes, suivi et vérification par QR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6500" y="1841500"/>
            <a:ext cx="5207000" cy="38735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2100" y="2133600"/>
            <a:ext cx="444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AD7A4"/>
                </a:solidFill>
                <a:latin typeface="Open Sans"/>
              </a:rPr>
              <a:t>PERSPECTIVES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2100" y="2489200"/>
            <a:ext cx="4495800" cy="9525"/>
          </a:xfrm>
          <a:prstGeom prst="rect">
            <a:avLst/>
          </a:prstGeom>
          <a:solidFill>
            <a:srgbClr val="2E4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2100" y="267970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D7A4"/>
                </a:solidFill>
                <a:latin typeface="Open San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3100" y="26416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Pilote diaspora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3100" y="29210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Open Sans"/>
              </a:rPr>
              <a:t>Tester les corridors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7800" y="2679700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081B2C"/>
                </a:solidFill>
                <a:latin typeface="Open Sans"/>
              </a:rPr>
              <a:t>T1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2100" y="3270250"/>
            <a:ext cx="4495800" cy="9525"/>
          </a:xfrm>
          <a:prstGeom prst="rect">
            <a:avLst/>
          </a:prstGeom>
          <a:solidFill>
            <a:srgbClr val="2E4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42100" y="346075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D7A4"/>
                </a:solidFill>
                <a:latin typeface="Open San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3100" y="342265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Intégrations en production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3100" y="370205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Open Sans"/>
              </a:rPr>
              <a:t>Connecter les partenaires, paiements réels via Bitnob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7800" y="3460750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081B2C"/>
                </a:solidFill>
                <a:latin typeface="Open Sans"/>
              </a:rPr>
              <a:t>T2 2027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2100" y="4051300"/>
            <a:ext cx="4495800" cy="9525"/>
          </a:xfrm>
          <a:prstGeom prst="rect">
            <a:avLst/>
          </a:prstGeom>
          <a:solidFill>
            <a:srgbClr val="2E4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42100" y="424180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D7A4"/>
                </a:solidFill>
                <a:latin typeface="Open San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3100" y="4203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Lancement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3100" y="44831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Open Sans"/>
              </a:rPr>
              <a:t>Mesurer et étendre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7800" y="4241800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081B2C"/>
                </a:solidFill>
                <a:latin typeface="Open Sans"/>
              </a:rPr>
              <a:t>T3 2027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42100" y="4832350"/>
            <a:ext cx="4495800" cy="9525"/>
          </a:xfrm>
          <a:prstGeom prst="rect">
            <a:avLst/>
          </a:prstGeom>
          <a:solidFill>
            <a:srgbClr val="2E4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42100" y="5022850"/>
            <a:ext cx="254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D7A4"/>
                </a:solidFill>
                <a:latin typeface="Open San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3100" y="498475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Paiements locaux, conformité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100" y="526415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Open Sans"/>
              </a:rPr>
              <a:t>Wave, Orange Money, YAS ; conformité étendue</a:t>
            </a:r>
          </a:p>
        </p:txBody>
      </p:sp>
      <p:sp>
        <p:nvSpPr>
          <p:cNvPr id="43" name="Oval 42"/>
          <p:cNvSpPr/>
          <p:nvPr/>
        </p:nvSpPr>
        <p:spPr>
          <a:xfrm>
            <a:off x="698500" y="6076950"/>
            <a:ext cx="88900" cy="8890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9000" y="6019800"/>
            <a:ext cx="952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6275"/>
                </a:solidFill>
                <a:latin typeface="Open Sans"/>
              </a:rPr>
              <a:t>Démonstration : les paiements sont simulés en environnement de développement.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533400"/>
            <a:ext cx="1079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2263A"/>
                </a:solidFill>
                <a:latin typeface="Montserrat"/>
              </a:rPr>
              <a:t>Plus de valeur arrive là où elle compte.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98500" y="2228850"/>
            <a:ext cx="2476500" cy="222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900" y="2667000"/>
            <a:ext cx="22225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3AD7A4"/>
                </a:solidFill>
                <a:latin typeface="Montserrat"/>
              </a:rPr>
              <a:t>− coûts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810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63A"/>
                </a:solidFill>
                <a:latin typeface="Open Sans"/>
              </a:rPr>
              <a:t>Plus d’argent reçu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228850"/>
            <a:ext cx="2476500" cy="222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81400" y="2667000"/>
            <a:ext cx="22225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3AD7A4"/>
                </a:solidFill>
                <a:latin typeface="Montserrat"/>
              </a:rPr>
              <a:t>+ sûr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800" y="3810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63A"/>
                </a:solidFill>
                <a:latin typeface="Open Sans"/>
              </a:rPr>
              <a:t>Preuves vérifiables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9500" y="2228850"/>
            <a:ext cx="2476500" cy="222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1900" y="2667000"/>
            <a:ext cx="22225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3AD7A4"/>
                </a:solidFill>
                <a:latin typeface="Montserrat"/>
              </a:rPr>
              <a:t>+ rapide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7300" y="3810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63A"/>
                </a:solidFill>
                <a:latin typeface="Open Sans"/>
              </a:rPr>
              <a:t>Parcours simplifié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0000" y="2228850"/>
            <a:ext cx="2476500" cy="22225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42400" y="2667000"/>
            <a:ext cx="22225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100 % lisible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7800" y="3810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FE6ED"/>
                </a:solidFill>
                <a:latin typeface="Open Sans"/>
              </a:rPr>
              <a:t>Flux transparent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08000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263A"/>
                </a:solidFill>
                <a:latin typeface="Montserrat"/>
              </a:rPr>
              <a:t>Pour la diaspora : moins d’incertitude. Pour les familles : plus d’impact.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5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0"/>
            <a:ext cx="38735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698500"/>
            <a:ext cx="7302500" cy="146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Montserrat"/>
              </a:rPr>
              <a:t>Faire circuler la valeur.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Montserrat"/>
              </a:rPr>
              <a:t>Renforcer la confiance.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286000"/>
            <a:ext cx="6667500" cy="48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 err="1">
                <a:solidFill>
                  <a:srgbClr val="DFE6ED"/>
                </a:solidFill>
                <a:latin typeface="Open Sans"/>
              </a:rPr>
              <a:t>DioteKo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transforme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un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transfert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en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expérience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claire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,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sûre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et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vérifiable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au service de la diaspora et de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ceux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qu’elle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 </a:t>
            </a:r>
            <a:r>
              <a:rPr sz="1300" b="0" dirty="0" err="1">
                <a:solidFill>
                  <a:srgbClr val="DFE6ED"/>
                </a:solidFill>
                <a:latin typeface="Open Sans"/>
              </a:rPr>
              <a:t>soutient</a:t>
            </a:r>
            <a:r>
              <a:rPr sz="1300" b="0" dirty="0">
                <a:solidFill>
                  <a:srgbClr val="DFE6ED"/>
                </a:solidFill>
                <a:latin typeface="Open San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4699000"/>
            <a:ext cx="571500" cy="38100"/>
          </a:xfrm>
          <a:prstGeom prst="rect">
            <a:avLst/>
          </a:prstGeom>
          <a:solidFill>
            <a:srgbClr val="3AD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8500" y="4953000"/>
            <a:ext cx="7302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ontserrat"/>
              </a:rPr>
              <a:t>Merci pour votre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5461000"/>
            <a:ext cx="7302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D7A4"/>
                </a:solidFill>
                <a:latin typeface="Open Sans"/>
              </a:rP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895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meriem sy</dc:creator>
  <cp:keywords/>
  <dc:description>generated using python-pptx</dc:description>
  <cp:lastModifiedBy>meriem sy</cp:lastModifiedBy>
  <cp:revision>2</cp:revision>
  <dcterms:created xsi:type="dcterms:W3CDTF">2013-01-27T09:14:16Z</dcterms:created>
  <dcterms:modified xsi:type="dcterms:W3CDTF">2026-10-18T10:53:17Z</dcterms:modified>
  <cp:category/>
</cp:coreProperties>
</file>